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92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4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28.jpe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2938" y="975150"/>
            <a:ext cx="785812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AIE342 | Advanced Methods for Data Analysis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2938" y="1345517"/>
            <a:ext cx="7858125" cy="1063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Product Recommendation Engine: A Deep Learning Framework for Personalized Fashion E-Commerce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2878754" y="2624937"/>
            <a:ext cx="84638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Aser Mohamed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3056687" y="2787458"/>
            <a:ext cx="490519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222102487</a:t>
            </a:r>
            <a:endParaRPr lang="en-US" sz="850" b="1" dirty="0">
              <a:solidFill>
                <a:srgbClr val="00B05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4035311" y="2624937"/>
            <a:ext cx="88004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Mohamed Rady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230076" y="2787458"/>
            <a:ext cx="490519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222200004</a:t>
            </a:r>
            <a:endParaRPr lang="en-US" sz="850" b="1" dirty="0">
              <a:solidFill>
                <a:srgbClr val="00B050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5238025" y="2624937"/>
            <a:ext cx="101470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Mohamed Elsayed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5500115" y="2787458"/>
            <a:ext cx="490519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222200002</a:t>
            </a:r>
            <a:endParaRPr lang="en-US" sz="850" b="1" dirty="0">
              <a:solidFill>
                <a:srgbClr val="00B05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1136526" y="3133930"/>
            <a:ext cx="6870948" cy="3768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supervision of Prof. Mohamed Meaad and TA: Eng. Abdelkareem Elhawary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0" y="3604333"/>
            <a:ext cx="9144000" cy="153916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1A3673">
              <a:alpha val="9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of Computers and Artificial Intelligence</a:t>
            </a:r>
            <a:endParaRPr lang="en-US" sz="11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19A27918-37B8-FDFD-584D-4A898C780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285749"/>
            <a:ext cx="2028859" cy="660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and Overview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28750"/>
            <a:ext cx="1239134" cy="31611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7736"/>
            <a:ext cx="171450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5825" y="1887736"/>
            <a:ext cx="7686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E-commerce growth demands intelligent recommender systems. Traditional methods often suffer from </a:t>
            </a: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cold-start problems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sparse data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especially in fashion where visual appeal is key.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1500" y="2459236"/>
            <a:ext cx="1113532" cy="31611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Solution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18222"/>
            <a:ext cx="128588" cy="2071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2963" y="2918222"/>
            <a:ext cx="77295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robust </a:t>
            </a: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Product Recommendation Engine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integrating visual, textual, categorical, and behavioral data within a unified deep learning framework.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89722"/>
            <a:ext cx="150019" cy="2071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4394" y="3489722"/>
            <a:ext cx="77081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Innovation: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Leverages transfer learning (ResNet50) for visual embeddings and TF-IDF for text, combined via a </a:t>
            </a: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weighted early-fusion mechanism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61222"/>
            <a:ext cx="171450" cy="20716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5825" y="4061222"/>
            <a:ext cx="7686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Achieved significant performance improvements, including an </a:t>
            </a: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18.7% increase in NDCG@10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a </a:t>
            </a: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53.8% reduction in cold-start Mean Absolute Error (MAE)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0" y="4489847"/>
            <a:ext cx="9144000" cy="653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28750"/>
            <a:ext cx="3079793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Evolution of Recommender Systems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7736"/>
            <a:ext cx="142875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531" y="1887736"/>
            <a:ext cx="329871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1st Gen (1990s):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Rule-based systems - rigid, limited scalability.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74909"/>
            <a:ext cx="178594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250" y="2174909"/>
            <a:ext cx="504276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2nd Gen (2000s):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Collaborative Filtering (CF) - SVD revolutionized, but vulnerable to cold-start.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62082"/>
            <a:ext cx="142875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531" y="2462082"/>
            <a:ext cx="475254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3rd Gen (2010s):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Deep Learning - CNNs enabled feature extraction from unstructured data.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49255"/>
            <a:ext cx="160734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39391" y="2749255"/>
            <a:ext cx="561158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4th Gen (2020s–Present):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Multi-Modal Systems - integrating heterogeneous data for holistic understanding.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571500" y="3143585"/>
            <a:ext cx="1183351" cy="31611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Concepts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02571"/>
            <a:ext cx="107156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85813" y="3602571"/>
            <a:ext cx="54852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Content-Based Filtering (CBF):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Recommends items similar to those a user liked, based on item features.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89744"/>
            <a:ext cx="178594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57250" y="3889744"/>
            <a:ext cx="5288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Collaborative Filtering (CF):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Predicts preferences by leveraging patterns from similar users or items.</a:t>
            </a:r>
            <a:endParaRPr lang="en-US" sz="9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176917"/>
            <a:ext cx="142875" cy="17145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21531" y="4176917"/>
            <a:ext cx="47927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Learning: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Combines diverse data types (visual, text) into unified embeddings.</a:t>
            </a:r>
            <a:endParaRPr lang="en-US" sz="9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0" y="4382662"/>
            <a:ext cx="9144000" cy="760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Techniques: System Architecture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85875"/>
            <a:ext cx="2870281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Modular Four-Stage Architecture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44861"/>
            <a:ext cx="214313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2969" y="1744861"/>
            <a:ext cx="3886842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1: Data Preprocessing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Standardizes raw data through image resizing, text tokenization, and normalization.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66380"/>
            <a:ext cx="171450" cy="207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106" y="2466380"/>
            <a:ext cx="392970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2: Multi-Modal Feature Extraction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Parallel modality-specific encoders generate fixed-dimensional vector representations.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87898"/>
            <a:ext cx="192881" cy="20716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71538" y="3187898"/>
            <a:ext cx="390827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3: Weighted Early-Fusion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Integrates heterogeneous feature vectors into a unified latent representation space.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09417"/>
            <a:ext cx="171450" cy="2071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0106" y="3909417"/>
            <a:ext cx="392970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4: Adaptive Hybrid Engine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Dynamically selects and combines algorithms based on user interaction density.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5183098" y="1547674"/>
            <a:ext cx="3271838" cy="2224226"/>
          </a:xfrm>
          <a:prstGeom prst="rect">
            <a:avLst/>
          </a:prstGeom>
          <a:solidFill>
            <a:srgbClr val="F4F7FA"/>
          </a:solidFill>
          <a:ln w="27432">
            <a:solidFill>
              <a:srgbClr val="1A3673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5211673" y="3857625"/>
            <a:ext cx="321468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Figure: System Architecture Overview (Figure 1.1 or 3.1 from the report)</a:t>
            </a:r>
            <a:endParaRPr lang="en-US" sz="8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0" y="4358936"/>
            <a:ext cx="9144000" cy="784565"/>
          </a:xfrm>
          <a:prstGeom prst="rect">
            <a:avLst/>
          </a:prstGeom>
        </p:spPr>
      </p:pic>
      <p:pic>
        <p:nvPicPr>
          <p:cNvPr id="20" name="Picture 19" descr="A diagram of a product">
            <a:extLst>
              <a:ext uri="{FF2B5EF4-FFF2-40B4-BE49-F238E27FC236}">
                <a16:creationId xmlns:a16="http://schemas.microsoft.com/office/drawing/2014/main" id="{AFAEF56B-DF15-A53E-FB0E-AD24DB51F4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974" y="1556551"/>
            <a:ext cx="3258101" cy="2214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Techniques: Feature Extraction &amp; Fusion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85875"/>
            <a:ext cx="2773896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Feature Extraction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1744861"/>
            <a:ext cx="3893344" cy="754726"/>
          </a:xfrm>
          <a:prstGeom prst="rect">
            <a:avLst/>
          </a:prstGeom>
          <a:solidFill>
            <a:srgbClr val="F4F7FA">
              <a:alpha val="8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744861"/>
            <a:ext cx="35719" cy="754726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891308"/>
            <a:ext cx="157163" cy="1571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1538" y="1891308"/>
            <a:ext cx="12397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(ResNet50)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4375" y="2139553"/>
            <a:ext cx="36075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Pre-trained CNN extracts </a:t>
            </a:r>
            <a:r>
              <a:rPr lang="en-US" sz="9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2048-dim embeddings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capturing shape, texture, and style.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79156" y="1744861"/>
            <a:ext cx="3893344" cy="754726"/>
          </a:xfrm>
          <a:prstGeom prst="rect">
            <a:avLst/>
          </a:prstGeom>
          <a:solidFill>
            <a:srgbClr val="F4F7FA">
              <a:alpha val="8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679156" y="1744861"/>
            <a:ext cx="35719" cy="754726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891308"/>
            <a:ext cx="137517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9548" y="1891308"/>
            <a:ext cx="12049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Textual (TF-IDF)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22031" y="2139553"/>
            <a:ext cx="36075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Processes titles and descriptions into </a:t>
            </a:r>
            <a:r>
              <a:rPr lang="en-US" sz="9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500-dim vectors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capturing semantic relationships.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71500" y="2713899"/>
            <a:ext cx="3893344" cy="754726"/>
          </a:xfrm>
          <a:prstGeom prst="rect">
            <a:avLst/>
          </a:prstGeom>
          <a:solidFill>
            <a:srgbClr val="F4F7FA">
              <a:alpha val="8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571500" y="2713899"/>
            <a:ext cx="35719" cy="754726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860346"/>
            <a:ext cx="157163" cy="1571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1538" y="2860346"/>
            <a:ext cx="15449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Categorical (One-Hot)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14375" y="3108592"/>
            <a:ext cx="36075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Encodes </a:t>
            </a:r>
            <a:r>
              <a:rPr lang="en-US" sz="9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fashion classes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structural and domain context.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679156" y="2713899"/>
            <a:ext cx="3893344" cy="754726"/>
          </a:xfrm>
          <a:prstGeom prst="rect">
            <a:avLst/>
          </a:prstGeom>
          <a:solidFill>
            <a:srgbClr val="F4F7FA">
              <a:alpha val="8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679156" y="2713899"/>
            <a:ext cx="35719" cy="754726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2860346"/>
            <a:ext cx="98227" cy="15716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20258" y="2860346"/>
            <a:ext cx="116945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(Min-Max)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822031" y="3108592"/>
            <a:ext cx="36075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Normalizes price data to the [0,1] range to prevent numerical dominance.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571500" y="3682938"/>
            <a:ext cx="1983758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Weighted Early-Fusion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71500" y="4284379"/>
            <a:ext cx="8001000" cy="373596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29" name="Text 22"/>
          <p:cNvSpPr/>
          <p:nvPr/>
        </p:nvSpPr>
        <p:spPr>
          <a:xfrm>
            <a:off x="2147478" y="4361594"/>
            <a:ext cx="10472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252207" y="4426223"/>
            <a:ext cx="37323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2625440" y="4361594"/>
            <a:ext cx="70187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0.4 × V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327313" y="4426223"/>
            <a:ext cx="36500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692314" y="4361594"/>
            <a:ext cx="74705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⊕ 0.3 × V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439366" y="4426223"/>
            <a:ext cx="23002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669389" y="4361594"/>
            <a:ext cx="74705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⊕ 0.2 × V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416441" y="4426223"/>
            <a:ext cx="52358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940028" y="4361594"/>
            <a:ext cx="74705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⊕ 0.1 × V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687080" y="4426223"/>
            <a:ext cx="30941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71500" y="4694113"/>
            <a:ext cx="8001000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features receive the </a:t>
            </a:r>
            <a:r>
              <a:rPr lang="en-US" sz="9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weight (40%)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due to their dominance in fashion decision-making.</a:t>
            </a:r>
            <a:endParaRPr lang="en-US" sz="95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0" y="4815222"/>
            <a:ext cx="9144000" cy="328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Hybrid Recommendation Engine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85875"/>
            <a:ext cx="3088779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Recommendation Strategy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44861"/>
            <a:ext cx="142875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531" y="1744861"/>
            <a:ext cx="395827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Cold-Start Users (&lt; 5 interactions):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Defaults to Content-Based Filtering (CBF) using fused product embeddings. This provides reliable recommendations even with zero user history.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30661"/>
            <a:ext cx="178594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250" y="2430661"/>
            <a:ext cx="392256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Users (≥ 5 interactions):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Employs a weighted combination of Content-Based and Collaborative Filtering (SVD) scores.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23580"/>
            <a:ext cx="178594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7250" y="2923580"/>
            <a:ext cx="392256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Weighting: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blending weight (α) adjusts based on user interaction density, prioritizing CF for richer histories.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571500" y="3573753"/>
            <a:ext cx="4208311" cy="557547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8"/>
          <p:cNvSpPr/>
          <p:nvPr/>
        </p:nvSpPr>
        <p:spPr>
          <a:xfrm>
            <a:off x="571500" y="3567832"/>
            <a:ext cx="35719" cy="557547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15" name="Text 9"/>
          <p:cNvSpPr/>
          <p:nvPr/>
        </p:nvSpPr>
        <p:spPr>
          <a:xfrm>
            <a:off x="714375" y="3630811"/>
            <a:ext cx="3922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Recommendation Score: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1570034" y="3820120"/>
            <a:ext cx="9535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665387" y="3884749"/>
            <a:ext cx="277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i="1" baseline="-40000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943267" y="3820120"/>
            <a:ext cx="55704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α × 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500313" y="3884749"/>
            <a:ext cx="19059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i="1" baseline="-40000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CB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690906" y="3820120"/>
            <a:ext cx="8997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(1 - α) × 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590683" y="3884749"/>
            <a:ext cx="19059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i="1" baseline="-40000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CF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52152" y="4324442"/>
            <a:ext cx="2857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Recommendation Engine effectively mitigates cold-start limitations and improves overall recommendation quality.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0" y="4246960"/>
            <a:ext cx="9144000" cy="896541"/>
          </a:xfrm>
          <a:prstGeom prst="rect">
            <a:avLst/>
          </a:prstGeom>
        </p:spPr>
      </p:pic>
      <p:pic>
        <p:nvPicPr>
          <p:cNvPr id="26" name="Picture 25" descr="A diagram of a diagram&#10;&#10;AI-generated content may be incorrect.">
            <a:extLst>
              <a:ext uri="{FF2B5EF4-FFF2-40B4-BE49-F238E27FC236}">
                <a16:creationId xmlns:a16="http://schemas.microsoft.com/office/drawing/2014/main" id="{AFA82541-DB91-3DD2-4B42-DB0359D5F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2686" y="1408405"/>
            <a:ext cx="3886842" cy="25912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Evaluation: Performance Summary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85875"/>
            <a:ext cx="2210153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Performance Metrics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9967" y="1816298"/>
            <a:ext cx="1361945" cy="217884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8" name="Text 5"/>
          <p:cNvSpPr/>
          <p:nvPr/>
        </p:nvSpPr>
        <p:spPr>
          <a:xfrm>
            <a:off x="319967" y="1816298"/>
            <a:ext cx="1361945" cy="217884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81912" y="1816298"/>
            <a:ext cx="1458525" cy="217884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10" name="Text 7"/>
          <p:cNvSpPr/>
          <p:nvPr/>
        </p:nvSpPr>
        <p:spPr>
          <a:xfrm>
            <a:off x="1681912" y="1816298"/>
            <a:ext cx="1458525" cy="217884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40437" y="1816298"/>
            <a:ext cx="1680093" cy="217884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12" name="Text 9"/>
          <p:cNvSpPr/>
          <p:nvPr/>
        </p:nvSpPr>
        <p:spPr>
          <a:xfrm>
            <a:off x="3140437" y="1816298"/>
            <a:ext cx="1680093" cy="217884"/>
          </a:xfrm>
          <a:prstGeom prst="rect">
            <a:avLst/>
          </a:prstGeom>
          <a:noFill/>
          <a:ln/>
        </p:spPr>
        <p:txBody>
          <a:bodyPr wrap="square" lIns="127508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Improvement vs CF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9967" y="2034183"/>
            <a:ext cx="1361945" cy="198239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NDCG@10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81912" y="2034183"/>
            <a:ext cx="1458525" cy="198239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0.234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40437" y="2034183"/>
            <a:ext cx="1680093" cy="198239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+18.7%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19967" y="2232422"/>
            <a:ext cx="4500563" cy="2018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7" name="Text 14"/>
          <p:cNvSpPr/>
          <p:nvPr/>
        </p:nvSpPr>
        <p:spPr>
          <a:xfrm>
            <a:off x="319967" y="2232422"/>
            <a:ext cx="136194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Precision@10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81912" y="2232422"/>
            <a:ext cx="145852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0.271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140437" y="2232422"/>
            <a:ext cx="1680093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+26.6%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19967" y="2434233"/>
            <a:ext cx="136194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Recall@10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81912" y="2434233"/>
            <a:ext cx="145852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0.318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140437" y="2434233"/>
            <a:ext cx="1680093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+41.9%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19967" y="2636044"/>
            <a:ext cx="4500563" cy="2018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4" name="Text 21"/>
          <p:cNvSpPr/>
          <p:nvPr/>
        </p:nvSpPr>
        <p:spPr>
          <a:xfrm>
            <a:off x="319967" y="2636044"/>
            <a:ext cx="136194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Cold-Start MAE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681912" y="2636044"/>
            <a:ext cx="145852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0.67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140437" y="2636044"/>
            <a:ext cx="1680093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-53.8%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19967" y="2837855"/>
            <a:ext cx="136194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Catalog Coverage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681912" y="2837855"/>
            <a:ext cx="145852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71.6%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140437" y="2837855"/>
            <a:ext cx="1680093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+752%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19967" y="3039666"/>
            <a:ext cx="4500563" cy="2018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1" name="Text 28"/>
          <p:cNvSpPr/>
          <p:nvPr/>
        </p:nvSpPr>
        <p:spPr>
          <a:xfrm>
            <a:off x="319967" y="3039666"/>
            <a:ext cx="136194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Avg. Latency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681912" y="3039666"/>
            <a:ext cx="1458525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198ms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140437" y="3039666"/>
            <a:ext cx="1680093" cy="201811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-18.5%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19967" y="3387923"/>
            <a:ext cx="45005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Evaluated on Amazon Fashion dataset (5,234 users, 587 products).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078913" y="1285875"/>
            <a:ext cx="1772487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Comparison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5357813" y="4346423"/>
            <a:ext cx="321468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Figure: Performance Comparison across single-modal and multi-modal systems.</a:t>
            </a:r>
            <a:endParaRPr lang="en-US" sz="85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4573419"/>
            <a:ext cx="9144000" cy="570082"/>
          </a:xfrm>
          <a:prstGeom prst="rect">
            <a:avLst/>
          </a:prstGeom>
        </p:spPr>
      </p:pic>
      <p:pic>
        <p:nvPicPr>
          <p:cNvPr id="40" name="Picture 39" descr="A group of blue and green bars">
            <a:extLst>
              <a:ext uri="{FF2B5EF4-FFF2-40B4-BE49-F238E27FC236}">
                <a16:creationId xmlns:a16="http://schemas.microsoft.com/office/drawing/2014/main" id="{5B75C09D-C3C0-239E-73A2-AB9310CF7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761" y="1561897"/>
            <a:ext cx="3741959" cy="26710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Evaluation: Ablation Study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28750"/>
            <a:ext cx="4931392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Quantifying Modality Contributions (NDCG@10 Impact)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1959173"/>
            <a:ext cx="3857625" cy="103584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959173"/>
            <a:ext cx="42863" cy="1035844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9" name="Text 6"/>
          <p:cNvSpPr/>
          <p:nvPr/>
        </p:nvSpPr>
        <p:spPr>
          <a:xfrm>
            <a:off x="750094" y="2137767"/>
            <a:ext cx="3500438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0094" y="2389584"/>
            <a:ext cx="35004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3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-12.4% Reduction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0094" y="2587823"/>
            <a:ext cx="3500438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significant contributor; confirms visual appeal is dominant in fashion.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14875" y="1959173"/>
            <a:ext cx="3857625" cy="103584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714875" y="1959173"/>
            <a:ext cx="42863" cy="1035844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893469" y="2137767"/>
            <a:ext cx="3500438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Textual Features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3469" y="2389584"/>
            <a:ext cx="35004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3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-8.1% Reduction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93469" y="2587823"/>
            <a:ext cx="3500438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 most important; captures semantic attributes not in images.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1500" y="3280767"/>
            <a:ext cx="3857625" cy="103584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3280767"/>
            <a:ext cx="42863" cy="1035844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19" name="Text 16"/>
          <p:cNvSpPr/>
          <p:nvPr/>
        </p:nvSpPr>
        <p:spPr>
          <a:xfrm>
            <a:off x="750094" y="3459361"/>
            <a:ext cx="3500438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Metadata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0094" y="3711178"/>
            <a:ext cx="35004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3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-4.2% Reduction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0094" y="3909417"/>
            <a:ext cx="3500438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essential structural context for recommendation accuracy.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14875" y="3280767"/>
            <a:ext cx="3857625" cy="103584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3" name="Shape 20"/>
          <p:cNvSpPr/>
          <p:nvPr/>
        </p:nvSpPr>
        <p:spPr>
          <a:xfrm>
            <a:off x="4714875" y="3280767"/>
            <a:ext cx="42863" cy="1035844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24" name="Text 21"/>
          <p:cNvSpPr/>
          <p:nvPr/>
        </p:nvSpPr>
        <p:spPr>
          <a:xfrm>
            <a:off x="4893469" y="3459361"/>
            <a:ext cx="3500438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Normalization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3469" y="3711178"/>
            <a:ext cx="35004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3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-1.3% Reduction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3469" y="3909417"/>
            <a:ext cx="3500438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a modest but useful regularizing signal for the model.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1500" y="4602361"/>
            <a:ext cx="8001000" cy="46791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4602361"/>
            <a:ext cx="42863" cy="4679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26"/>
          <p:cNvSpPr/>
          <p:nvPr/>
        </p:nvSpPr>
        <p:spPr>
          <a:xfrm>
            <a:off x="750094" y="4745236"/>
            <a:ext cx="7643813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"Multi-modal integration is essential for capturing the complexity of fashion preferences and achieving superior recommendation quality."</a:t>
            </a:r>
            <a:endParaRPr lang="en-US" sz="10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0" y="4992210"/>
            <a:ext cx="9144000" cy="151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Evaluation: Comparative Analysis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28750"/>
            <a:ext cx="3405420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Superiority of Multi-Modal Framework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1959173"/>
            <a:ext cx="8001000" cy="321469"/>
          </a:xfrm>
          <a:prstGeom prst="rect">
            <a:avLst/>
          </a:prstGeom>
          <a:solidFill>
            <a:srgbClr val="F4F7FA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959173"/>
            <a:ext cx="35719" cy="321469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066330"/>
            <a:ext cx="171450" cy="2071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2066330"/>
            <a:ext cx="63769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Cold-Start Mitigation: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Proposed system dramatically reduces Cold-Start MAE to </a:t>
            </a:r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0.67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(vs. 1.45 for CF-Only).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71500" y="2459236"/>
            <a:ext cx="8001000" cy="321469"/>
          </a:xfrm>
          <a:prstGeom prst="rect">
            <a:avLst/>
          </a:prstGeom>
          <a:solidFill>
            <a:srgbClr val="F4F7FA">
              <a:alpha val="6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459236"/>
            <a:ext cx="35719" cy="321469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66392"/>
            <a:ext cx="171450" cy="207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8700" y="2566392"/>
            <a:ext cx="65347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Increased Diversity: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Achieves </a:t>
            </a:r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71.6%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catalog coverage (vs. 8.4% for CF-Only), enabling broader item discovery.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71500" y="2959298"/>
            <a:ext cx="8001000" cy="321469"/>
          </a:xfrm>
          <a:prstGeom prst="rect">
            <a:avLst/>
          </a:prstGeom>
          <a:solidFill>
            <a:srgbClr val="F4F7FA">
              <a:alpha val="6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2959298"/>
            <a:ext cx="35719" cy="321469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066455"/>
            <a:ext cx="192881" cy="2071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0131" y="3066455"/>
            <a:ext cx="63228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Efficiency: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Maintains sub-200ms inference latency, validating practical applicability in production.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71500" y="3459361"/>
            <a:ext cx="8001000" cy="321469"/>
          </a:xfrm>
          <a:prstGeom prst="rect">
            <a:avLst/>
          </a:prstGeom>
          <a:solidFill>
            <a:srgbClr val="F4F7FA">
              <a:alpha val="6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459361"/>
            <a:ext cx="35719" cy="321469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566517"/>
            <a:ext cx="171450" cy="2071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8700" y="3566517"/>
            <a:ext cx="60530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Significance: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All observed performance improvements are statistically significant (</a:t>
            </a:r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&lt; 0.001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0" y="4071938"/>
            <a:ext cx="9144000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28750"/>
            <a:ext cx="2288874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of Achievements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7736"/>
            <a:ext cx="142875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531" y="1887736"/>
            <a:ext cx="493476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Developed a </a:t>
            </a: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multi-modal framework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specifically optimized for fashion e-commerce.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74909"/>
            <a:ext cx="142875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531" y="2174909"/>
            <a:ext cx="442890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addressed </a:t>
            </a: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cold-start and data sparsity issues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through hybrid modeling.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62082"/>
            <a:ext cx="142875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531" y="2462082"/>
            <a:ext cx="503877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Validated on Amazon Fashion dataset with </a:t>
            </a: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superior ranking performance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real-time latency.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571500" y="2856412"/>
            <a:ext cx="1120648" cy="31611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15398"/>
            <a:ext cx="125016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3672" y="3315398"/>
            <a:ext cx="520411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Models: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Integration of Vision Transformers (ViT) and Transformer-based LLMs (BERT).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02571"/>
            <a:ext cx="125016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3672" y="3602571"/>
            <a:ext cx="53148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Modeling: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Exploring Graph Neural Networks (GNNs) for complex user-item relationships.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89744"/>
            <a:ext cx="125016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03672" y="3889744"/>
            <a:ext cx="47264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Dynamics: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Implementing sequence-aware models for evolving user preferences.</a:t>
            </a:r>
            <a:endParaRPr lang="en-US" sz="9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>
            <a:off x="0" y="4071938"/>
            <a:ext cx="9144000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2938" y="1239441"/>
            <a:ext cx="7858125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35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4350" dirty="0"/>
          </a:p>
        </p:txBody>
      </p:sp>
      <p:sp>
        <p:nvSpPr>
          <p:cNvPr id="5" name="Text 1"/>
          <p:cNvSpPr/>
          <p:nvPr/>
        </p:nvSpPr>
        <p:spPr>
          <a:xfrm>
            <a:off x="642938" y="2071688"/>
            <a:ext cx="7858125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72263" y="2794992"/>
            <a:ext cx="7399474" cy="39469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supervision of Prof. Mohamed Meaad and TA: Eng. Abdelkareem Elhawary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0" y="3357563"/>
            <a:ext cx="9144000" cy="178593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1A3673">
              <a:alpha val="90000"/>
            </a:srgbClr>
          </a:solidFill>
          <a:ln/>
        </p:spPr>
      </p:sp>
      <p:sp>
        <p:nvSpPr>
          <p:cNvPr id="9" name="Text 4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of Computers and Artificial Intelligence</a:t>
            </a:r>
            <a:endParaRPr lang="en-US" sz="11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3A9D6ED-5C23-8F0C-DB4D-6CF23761A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285749"/>
            <a:ext cx="2303074" cy="7499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979</Words>
  <Application>Microsoft Office PowerPoint</Application>
  <PresentationFormat>On-screen Show (16:9)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Asser Mohamed</dc:creator>
  <cp:lastModifiedBy>Aser Mohamed</cp:lastModifiedBy>
  <cp:revision>2</cp:revision>
  <dcterms:created xsi:type="dcterms:W3CDTF">2026-05-12T21:06:51Z</dcterms:created>
  <dcterms:modified xsi:type="dcterms:W3CDTF">2026-05-12T21:32:49Z</dcterms:modified>
</cp:coreProperties>
</file>